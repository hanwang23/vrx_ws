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_titl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3152" cy="3337560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152144"/>
            <a:ext cx="8961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codex_fix 本条对话修改</a:t>
            </a:r>
            <a:br/>
            <a:r>
              <a:t>论述流程汇报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770632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E8F1F5"/>
                </a:solidFill>
                <a:latin typeface="Noto Sans CJK SC"/>
              </a:defRPr>
            </a:pPr>
            <a:r>
              <a:t>从“能跑”走向“可观测、可复现、可验收”的 VRX WAM-V 自主航行闭环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3447288"/>
            <a:ext cx="1298448" cy="347472"/>
          </a:xfrm>
          <a:prstGeom prst="rect">
            <a:avLst/>
          </a:prstGeom>
          <a:solidFill>
            <a:srgbClr val="10253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511296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FFFFFF"/>
                </a:solidFill>
                <a:latin typeface="Noto Sans CJK SC"/>
              </a:defRPr>
            </a:pPr>
            <a:r>
              <a:t>EKF 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3447288"/>
            <a:ext cx="1115568" cy="347472"/>
          </a:xfrm>
          <a:prstGeom prst="rect">
            <a:avLst/>
          </a:prstGeom>
          <a:solidFill>
            <a:srgbClr val="10253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3511296"/>
            <a:ext cx="1115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FFFFFF"/>
                </a:solidFill>
                <a:latin typeface="Noto Sans CJK SC"/>
              </a:defRPr>
            </a:pPr>
            <a:r>
              <a:t>滚动地图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447288"/>
            <a:ext cx="1298448" cy="347472"/>
          </a:xfrm>
          <a:prstGeom prst="rect">
            <a:avLst/>
          </a:prstGeom>
          <a:solidFill>
            <a:srgbClr val="10253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511296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FFFFFF"/>
                </a:solidFill>
                <a:latin typeface="Noto Sans CJK SC"/>
              </a:defRPr>
            </a:pPr>
            <a:r>
              <a:t>State Lattice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2352" y="3447288"/>
            <a:ext cx="1298448" cy="347472"/>
          </a:xfrm>
          <a:prstGeom prst="rect">
            <a:avLst/>
          </a:prstGeom>
          <a:solidFill>
            <a:srgbClr val="10253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3511296"/>
            <a:ext cx="1298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FFFFFF"/>
                </a:solidFill>
                <a:latin typeface="Noto Sans CJK SC"/>
              </a:defRPr>
            </a:pPr>
            <a:r>
              <a:t>COLREGs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104" y="3447288"/>
            <a:ext cx="1115568" cy="347472"/>
          </a:xfrm>
          <a:prstGeom prst="rect">
            <a:avLst/>
          </a:prstGeom>
          <a:solidFill>
            <a:srgbClr val="10253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511296"/>
            <a:ext cx="1115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FFFFFF"/>
                </a:solidFill>
                <a:latin typeface="Noto Sans CJK SC"/>
              </a:defRPr>
            </a:pPr>
            <a:r>
              <a:t>自动评测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133087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40" b="0">
                <a:solidFill>
                  <a:srgbClr val="E8F1F5"/>
                </a:solidFill>
                <a:latin typeface="Noto Sans CJK SC"/>
              </a:defRPr>
            </a:pPr>
            <a:r>
              <a:t>汇报主线：问题牵引 -&gt; 系统改造 -&gt; 启动流程 -&gt; 控制流程 -&gt; 验收证据 -&gt; 后续边界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61447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t>汇报人：HanW | 2026.07.20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60899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Noto Sans CJK SC"/>
              </a:defRPr>
            </a:pPr>
            <a:r>
              <a:t>论述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一、为什么要改：把 VRX 练习变成工程闭环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问题与论点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2</a:t>
            </a:r>
          </a:p>
        </p:txBody>
      </p:sp>
      <p:pic>
        <p:nvPicPr>
          <p:cNvPr id="8" name="Picture 7" descr="sim_card.png"/>
          <p:cNvPicPr>
            <a:picLocks noChangeAspect="1"/>
          </p:cNvPicPr>
          <p:nvPr/>
        </p:nvPicPr>
        <p:blipFill>
          <a:blip r:embed="rId2"/>
          <a:srcRect t="35625" b="35625"/>
          <a:stretch>
            <a:fillRect/>
          </a:stretch>
        </p:blipFill>
        <p:spPr>
          <a:xfrm>
            <a:off x="685800" y="1115568"/>
            <a:ext cx="10972800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2779775"/>
            <a:ext cx="10972800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79775"/>
            <a:ext cx="73152" cy="438912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98647"/>
            <a:ext cx="10652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真实 VRX Wayfinding 场景：到点只是结果，过程仍需被解释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56432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56432"/>
            <a:ext cx="73152" cy="1874519"/>
          </a:xfrm>
          <a:prstGeom prst="rect">
            <a:avLst/>
          </a:prstGeom>
          <a:solidFill>
            <a:srgbClr val="B74C46"/>
          </a:solidFill>
          <a:ln w="12700">
            <a:solidFill>
              <a:srgbClr val="B7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2102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74C4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3639312"/>
            <a:ext cx="24323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原始痛点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096511"/>
            <a:ext cx="2962656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定位源、障碍记忆和动态船预测不透明，成功或失败很难复盘。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3456432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3456432"/>
            <a:ext cx="73152" cy="1874519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362102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F7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639312"/>
            <a:ext cx="24323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本轮论点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96511"/>
            <a:ext cx="2962656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每个决策有可视化、每次运行有指标、每类风险有独立验收。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3456432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9016" y="3456432"/>
            <a:ext cx="73152" cy="1874519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362102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78A5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639312"/>
            <a:ext cx="24323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工程标准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96511"/>
            <a:ext cx="2962656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同一推荐入口整合算法、场景、RViz 与评测，形成一致实验链。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596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20" b="1">
                <a:solidFill>
                  <a:srgbClr val="17324D"/>
                </a:solidFill>
                <a:latin typeface="Noto Sans CJK SC"/>
              </a:defRPr>
            </a:pPr>
            <a:r>
              <a:t>结论：codex_fix 把“能跑”提升为可学习、可诊断、可回归。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二、从这条对话开始的修改范围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改造总览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3</a:t>
            </a:r>
          </a:p>
        </p:txBody>
      </p:sp>
      <p:pic>
        <p:nvPicPr>
          <p:cNvPr id="8" name="Picture 7" descr="sim_card.png"/>
          <p:cNvPicPr>
            <a:picLocks noChangeAspect="1"/>
          </p:cNvPicPr>
          <p:nvPr/>
        </p:nvPicPr>
        <p:blipFill>
          <a:blip r:embed="rId2"/>
          <a:srcRect l="5208" r="5208"/>
          <a:stretch>
            <a:fillRect/>
          </a:stretch>
        </p:blipFill>
        <p:spPr>
          <a:xfrm>
            <a:off x="4133087" y="1371600"/>
            <a:ext cx="393192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33087" y="3858768"/>
            <a:ext cx="3931920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3087" y="3858768"/>
            <a:ext cx="73152" cy="438912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3977640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场景、算法与验收围绕同一艘 WAM-V 闭环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170432"/>
            <a:ext cx="31272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170432"/>
            <a:ext cx="73152" cy="2057400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353312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感知与定位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810512"/>
            <a:ext cx="26883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EKF / 健康回退</a:t>
            </a:r>
            <a:br/>
            <a:r>
              <a:t>点云滤水 / 浮标聚类</a:t>
            </a:r>
            <a:br/>
            <a:r>
              <a:t>动态目标跟踪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93008"/>
            <a:ext cx="31272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493008"/>
            <a:ext cx="73152" cy="2057400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675887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地图与规划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133087"/>
            <a:ext cx="26883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100 m 滚动栅格</a:t>
            </a:r>
            <a:br/>
            <a:r>
              <a:t>Dubins State Lattice A*</a:t>
            </a:r>
            <a:br/>
            <a:r>
              <a:t>在线重规划 / fallback 监控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4192" y="1170432"/>
            <a:ext cx="31272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94192" y="1170432"/>
            <a:ext cx="73152" cy="2057400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1353312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控制与规则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1810512"/>
            <a:ext cx="26883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ILOS + PID / 曲率限速</a:t>
            </a:r>
            <a:br/>
            <a:r>
              <a:t>制动与倒车恢复</a:t>
            </a:r>
            <a:br/>
            <a:r>
              <a:t>CPA/TCPA / COLREGs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4192" y="3493008"/>
            <a:ext cx="31272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3493008"/>
            <a:ext cx="73152" cy="2057400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3675887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场景与验收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133087"/>
            <a:ext cx="2688336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12 枚浮标 / 2 艘动态船</a:t>
            </a:r>
            <a:br/>
            <a:r>
              <a:t>中文 RViz / 仿真独占锁</a:t>
            </a:r>
            <a:br/>
            <a:r>
              <a:t>自动评测硬门槛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4617720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0" b="1">
                <a:solidFill>
                  <a:srgbClr val="17324D"/>
                </a:solidFill>
                <a:latin typeface="Noto Sans CJK SC"/>
              </a:defRPr>
            </a:pPr>
            <a:r>
              <a:t>定位→建图→规划→控制→规则→可视化→验收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887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60" b="0">
                <a:solidFill>
                  <a:srgbClr val="60707D"/>
                </a:solidFill>
                <a:latin typeface="Noto Sans CJK SC"/>
              </a:defRPr>
            </a:pPr>
            <a:r>
              <a:t>范围边界：未改旧版 autonomous_controller.py / launch_wayfinding.sh；推荐演示入口集中到 codex_fix。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三、演示启动流程：一条命令串起所有层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运行流程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2984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298448"/>
            <a:ext cx="1600200" cy="100584"/>
          </a:xfrm>
          <a:prstGeom prst="rect">
            <a:avLst/>
          </a:prstGeom>
          <a:solidFill>
            <a:srgbClr val="B74C46"/>
          </a:solidFill>
          <a:ln w="12700">
            <a:solidFill>
              <a:srgbClr val="B7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17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清理环境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1380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停止旧 Gazebo</a:t>
            </a:r>
            <a:br/>
            <a:r>
              <a:t>检查残留进程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21992" y="1810512"/>
            <a:ext cx="347472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78024" y="12984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1298448"/>
            <a:ext cx="1600200" cy="100584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1517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首次构建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1865376"/>
            <a:ext cx="1380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colcon build</a:t>
            </a:r>
            <a:br/>
            <a:r>
              <a:t>source install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96512" y="1810512"/>
            <a:ext cx="347471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352544" y="12984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2544" y="1298448"/>
            <a:ext cx="1600200" cy="100584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3" y="1517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主场景启动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1865376"/>
            <a:ext cx="1380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colregs_learning</a:t>
            </a:r>
            <a:br/>
            <a:r>
              <a:t>.launch.py</a:t>
            </a:r>
            <a:br/>
            <a:r>
              <a:t>推荐入口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1031" y="1810512"/>
            <a:ext cx="347473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27064" y="12984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1298448"/>
            <a:ext cx="1600200" cy="100584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3" y="1517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基础仿真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865376"/>
            <a:ext cx="1380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simulation</a:t>
            </a:r>
            <a:br/>
            <a:r>
              <a:t>.launch.py</a:t>
            </a:r>
            <a:br/>
            <a:r>
              <a:t>Wayfinding + WAM-V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45552" y="1810512"/>
            <a:ext cx="347471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01583" y="12984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1583" y="1298448"/>
            <a:ext cx="1600200" cy="10058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1517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算法节点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1865376"/>
            <a:ext cx="1380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EKF + Map + Lattice</a:t>
            </a:r>
            <a:br/>
            <a:r>
              <a:t>ILOS/PID + COLREGs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20072" y="1810512"/>
            <a:ext cx="347472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976104" y="12984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76104" y="1298448"/>
            <a:ext cx="1600200" cy="100584"/>
          </a:xfrm>
          <a:prstGeom prst="rect">
            <a:avLst/>
          </a:prstGeom>
          <a:solidFill>
            <a:srgbClr val="1AAFC1"/>
          </a:solidFill>
          <a:ln w="12700">
            <a:solidFill>
              <a:srgbClr val="1A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67544" y="1517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可视化/验收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5832" y="1865376"/>
            <a:ext cx="1380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RViz 观察</a:t>
            </a:r>
            <a:br/>
            <a:r>
              <a:t>status + 自动评测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2907792"/>
            <a:ext cx="6629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136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24D"/>
                </a:solidFill>
                <a:latin typeface="Noto Sans CJK SC"/>
              </a:defRPr>
            </a:pPr>
            <a:r>
              <a:t>启动链核心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3602736"/>
            <a:ext cx="614476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25313B"/>
                </a:solidFill>
                <a:latin typeface="Noto Sans CJK SC"/>
              </a:defRPr>
            </a:pPr>
            <a:r>
              <a:t>colregs_learning.launch.py  -&gt;  simulation.launch.py  -&gt;  官方 Wayfinding / WAM-V</a:t>
            </a:r>
            <a:br/>
            <a:r>
              <a:t>  -&gt;  robot_localization ekf_node  -&gt;  autonomous_usv</a:t>
            </a:r>
            <a:br/>
            <a:r>
              <a:t>  -&gt;  滚动占据栅格 / State Lattice / ILOS + PID / COLREGs Marker</a:t>
            </a:r>
            <a:br/>
            <a:r>
              <a:t>  -&gt;  12 枚红绿浮标 + 2 艘动态目标船 + pointcloud.rviz</a:t>
            </a:r>
          </a:p>
        </p:txBody>
      </p:sp>
      <p:pic>
        <p:nvPicPr>
          <p:cNvPr id="40" name="Picture 39" descr="sim_card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7635240" y="2907792"/>
            <a:ext cx="3886200" cy="233172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7635240" y="4800600"/>
            <a:ext cx="3886200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35240" y="4800600"/>
            <a:ext cx="73152" cy="438912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19" y="491947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启动后：Gazebo 场景、WAM-V 与动态目标同步加载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1324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07D"/>
                </a:solidFill>
                <a:latin typeface="Noto Sans CJK SC"/>
              </a:defRPr>
            </a:pPr>
            <a:r>
              <a:t>关键约束：同一时刻只运行一套 VRX 仿真；重复启动会被独占锁拒绝。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四、控制流程：静态避障与动态会遇分层接入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算法流程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3444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34440"/>
            <a:ext cx="1600200" cy="100584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53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传感器输入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01368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GNSS / IMU / Scan / PointCloud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76272" y="1691640"/>
            <a:ext cx="292608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32304" y="123444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2304" y="1234440"/>
            <a:ext cx="1600200" cy="100584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1453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状态估计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1801368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robot_localization EKF</a:t>
            </a:r>
            <a:br/>
            <a:r>
              <a:t>PlanarEKF 兜底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41648" y="1691640"/>
            <a:ext cx="292608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97680" y="123444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234440"/>
            <a:ext cx="1600200" cy="10058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453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滚动地图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1801368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100 m 栅格</a:t>
            </a:r>
            <a:br/>
            <a:r>
              <a:t>占用/自由/衰减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07024" y="1691640"/>
            <a:ext cx="292608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63056" y="123444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234440"/>
            <a:ext cx="1600200" cy="100584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1453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路径规划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1801368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Dubins State Lattice A*</a:t>
            </a:r>
            <a:br/>
            <a:r>
              <a:t>40 m 子目标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0" y="1691640"/>
            <a:ext cx="292608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028432" y="123444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2" y="1234440"/>
            <a:ext cx="1600200" cy="100584"/>
          </a:xfrm>
          <a:prstGeom prst="rect">
            <a:avLst/>
          </a:prstGeom>
          <a:solidFill>
            <a:srgbClr val="1AAFC1"/>
          </a:solidFill>
          <a:ln w="12700">
            <a:solidFill>
              <a:srgbClr val="1A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1453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路径跟踪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1801368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ILOS + 曲率限速</a:t>
            </a:r>
            <a:br/>
            <a:r>
              <a:t>艏摇前馈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37776" y="1691640"/>
            <a:ext cx="292608" cy="0"/>
          </a:xfrm>
          <a:prstGeom prst="line">
            <a:avLst/>
          </a:prstGeom>
          <a:ln w="17780">
            <a:solidFill>
              <a:srgbClr val="60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893808" y="123444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93808" y="1234440"/>
            <a:ext cx="1600200" cy="100584"/>
          </a:xfrm>
          <a:prstGeom prst="rect">
            <a:avLst/>
          </a:prstGeom>
          <a:solidFill>
            <a:srgbClr val="B74C46"/>
          </a:solidFill>
          <a:ln w="12700">
            <a:solidFill>
              <a:srgbClr val="B7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85248" y="14538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执行输出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1801368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60707D"/>
                </a:solidFill>
                <a:latin typeface="Noto Sans CJK SC"/>
              </a:defRPr>
            </a:pPr>
            <a:r>
              <a:t>安全过滤</a:t>
            </a:r>
            <a:br/>
            <a:r>
              <a:t>左右推进器</a:t>
            </a:r>
          </a:p>
        </p:txBody>
      </p:sp>
      <p:pic>
        <p:nvPicPr>
          <p:cNvPr id="37" name="Picture 36" descr="lidar_card.png"/>
          <p:cNvPicPr>
            <a:picLocks noChangeAspect="1"/>
          </p:cNvPicPr>
          <p:nvPr/>
        </p:nvPicPr>
        <p:blipFill>
          <a:blip r:embed="rId2"/>
          <a:srcRect l="5319" r="5319"/>
          <a:stretch>
            <a:fillRect/>
          </a:stretch>
        </p:blipFill>
        <p:spPr>
          <a:xfrm>
            <a:off x="841248" y="2880360"/>
            <a:ext cx="2880360" cy="214884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41248" y="4590288"/>
            <a:ext cx="2880360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4590288"/>
            <a:ext cx="73152" cy="438912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47091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静态层：点云 → 栅格 → State Lattice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2880360"/>
            <a:ext cx="43159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87952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动态目标监督分支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7952" y="3547872"/>
            <a:ext cx="38039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25313B"/>
                </a:solidFill>
                <a:latin typeface="Noto Sans CJK SC"/>
              </a:defRPr>
            </a:pPr>
            <a:r>
              <a:t>2 艘目标船 → alpha-beta 跟踪 → CPA/TCPA → 会遇分类 → 右转偏置 + 降速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87952" y="4361688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0707D"/>
                </a:solidFill>
                <a:latin typeface="Noto Sans CJK SC"/>
              </a:defRPr>
            </a:pPr>
            <a:r>
              <a:t>动态目标不写成静态墙；原始激光仍进入近障碍安全层。</a:t>
            </a:r>
          </a:p>
        </p:txBody>
      </p:sp>
      <p:pic>
        <p:nvPicPr>
          <p:cNvPr id="45" name="Picture 44" descr="path_card.png"/>
          <p:cNvPicPr>
            <a:picLocks noChangeAspect="1"/>
          </p:cNvPicPr>
          <p:nvPr/>
        </p:nvPicPr>
        <p:blipFill>
          <a:blip r:embed="rId3"/>
          <a:srcRect l="5319" r="5319"/>
          <a:stretch>
            <a:fillRect/>
          </a:stretch>
        </p:blipFill>
        <p:spPr>
          <a:xfrm>
            <a:off x="8458200" y="2880360"/>
            <a:ext cx="2880360" cy="21488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8458200" y="4590288"/>
            <a:ext cx="2880360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58200" y="4590288"/>
            <a:ext cx="73152" cy="438912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47091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执行层：ILOS 贴线与实际轨迹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60527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7324D"/>
                </a:solidFill>
                <a:latin typeface="Noto Sans CJK SC"/>
              </a:defRPr>
            </a:pPr>
            <a:r>
              <a:t>这保证动态船不会变成地图里的“虚假墙”，也不会绕开近距离安全检查。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五、可视化结果：让决策过程能被看见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场景与 RViz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6</a:t>
            </a:r>
          </a:p>
        </p:txBody>
      </p:sp>
      <p:pic>
        <p:nvPicPr>
          <p:cNvPr id="8" name="Picture 7" descr="path_card.png"/>
          <p:cNvPicPr>
            <a:picLocks noChangeAspect="1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685800" y="1133856"/>
            <a:ext cx="5074920" cy="3383280"/>
          </a:xfrm>
          <a:prstGeom prst="rect">
            <a:avLst/>
          </a:prstGeom>
        </p:spPr>
      </p:pic>
      <p:pic>
        <p:nvPicPr>
          <p:cNvPr id="9" name="Picture 8" descr="lidar_card.png"/>
          <p:cNvPicPr>
            <a:picLocks noChangeAspect="1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6428232" y="1133856"/>
            <a:ext cx="507492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4828032"/>
            <a:ext cx="34015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828032"/>
            <a:ext cx="73152" cy="1078992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5010912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路径/轨迹/XTE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5468112"/>
            <a:ext cx="296265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青色规划路径、黄色实际轨迹、品红横向误差，把“船为什么这样走”变成可检查证据。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4828032"/>
            <a:ext cx="34015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4828032"/>
            <a:ext cx="73152" cy="1078992"/>
          </a:xfrm>
          <a:prstGeom prst="rect">
            <a:avLst/>
          </a:prstGeom>
          <a:solidFill>
            <a:srgbClr val="D67A2D"/>
          </a:solidFill>
          <a:ln w="12700">
            <a:solidFill>
              <a:srgbClr val="D6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5010912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浮标候选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5468112"/>
            <a:ext cx="296265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黄色圆环来自真实三维激光聚类；定点删除 Marker，消除周期性闪烁。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9016" y="4828032"/>
            <a:ext cx="34015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4828032"/>
            <a:ext cx="73152" cy="1078992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5010912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动态船/COLREGs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5468112"/>
            <a:ext cx="296265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橙色方框显示动态船，风险目标变红，并显示 TCPA、DCPA、会遇类型。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六、自动验收：用指标证明不是只会演示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评测证据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3502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B62"/>
                </a:solidFill>
                <a:latin typeface="Noto Sans CJK SC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3736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官方任务完成率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117043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33502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B62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173736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碰撞次数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117043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33502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7F78"/>
                </a:solidFill>
                <a:latin typeface="Noto Sans CJK SC"/>
              </a:defRPr>
            </a:pPr>
            <a:r>
              <a:t>1.076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173736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官方平均误差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592" y="117043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33502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78A5"/>
                </a:solidFill>
                <a:latin typeface="Noto Sans CJK SC"/>
              </a:defRPr>
            </a:pPr>
            <a:r>
              <a:t>5.952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173736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最小净空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5712" y="117043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33502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B62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73736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State Lattice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3591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52374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7F78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292608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最大动态跟踪数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6352" y="23591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252374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67A2D"/>
                </a:solidFill>
                <a:latin typeface="Noto Sans CJK SC"/>
              </a:defRPr>
            </a:pPr>
            <a:r>
              <a:t>189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2656" y="292608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COLREGs 激活样本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9472" y="23591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52374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78A5"/>
                </a:solidFill>
                <a:latin typeface="Noto Sans CJK SC"/>
              </a:defRPr>
            </a:pPr>
            <a:r>
              <a:t>11.244 deg/s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5776" y="292608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最大艏摇角速度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22592" y="23591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252374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7F78"/>
                </a:solidFill>
                <a:latin typeface="Noto Sans CJK SC"/>
              </a:defRPr>
            </a:pPr>
            <a:r>
              <a:t>6.151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292608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最大规划耗时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25712" y="23591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523744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B62"/>
                </a:solidFill>
                <a:latin typeface="Noto Sans CJK SC"/>
              </a:defRPr>
            </a:pPr>
            <a:r>
              <a:t>172 passed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2926080"/>
            <a:ext cx="18562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60707D"/>
                </a:solidFill>
                <a:latin typeface="Noto Sans CJK SC"/>
              </a:defRPr>
            </a:pPr>
            <a:r>
              <a:t>源码/配置/模型测试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3968496"/>
            <a:ext cx="6675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" y="41879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验收命令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1879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1">
                <a:solidFill>
                  <a:srgbClr val="247F78"/>
                </a:solidFill>
                <a:latin typeface="Noto Sans CJK SC"/>
              </a:defRPr>
            </a:pPr>
            <a:r>
              <a:t>bash codex_fix/scripts/run_colregs_learning.sh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4645152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60" b="0">
                <a:solidFill>
                  <a:srgbClr val="25313B"/>
                </a:solidFill>
                <a:latin typeface="Noto Sans CJK SC"/>
              </a:defRPr>
            </a:pPr>
            <a:r>
              <a:t>硬门槛：三航点、0 碰撞、EKF 健康、动态目标=2、COLREGs&gt;=20、fallback=0。</a:t>
            </a:r>
          </a:p>
        </p:txBody>
      </p:sp>
      <p:pic>
        <p:nvPicPr>
          <p:cNvPr id="42" name="Picture 41" descr="path_card.png"/>
          <p:cNvPicPr>
            <a:picLocks noChangeAspect="1"/>
          </p:cNvPicPr>
          <p:nvPr/>
        </p:nvPicPr>
        <p:blipFill>
          <a:blip r:embed="rId2"/>
          <a:srcRect t="20495" b="20495"/>
          <a:stretch>
            <a:fillRect/>
          </a:stretch>
        </p:blipFill>
        <p:spPr>
          <a:xfrm>
            <a:off x="7754112" y="3968496"/>
            <a:ext cx="3602736" cy="141732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754112" y="4946904"/>
            <a:ext cx="3602736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54112" y="4946904"/>
            <a:ext cx="73152" cy="438912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6992" y="5065776"/>
            <a:ext cx="3282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验收实景：规划路径与实际轨迹同时留证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" y="555955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60" b="0">
                <a:solidFill>
                  <a:srgbClr val="60707D"/>
                </a:solidFill>
                <a:latin typeface="Noto Sans CJK SC"/>
              </a:defRPr>
            </a:pPr>
            <a:r>
              <a:t>证据：codex_fix/evaluation/20260717T002427Z/aggregate.json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七、论述结论：这次改造解决了什么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贡献与边界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8</a:t>
            </a:r>
          </a:p>
        </p:txBody>
      </p:sp>
      <p:pic>
        <p:nvPicPr>
          <p:cNvPr id="8" name="Picture 7" descr="sim_card.png"/>
          <p:cNvPicPr>
            <a:picLocks noChangeAspect="1"/>
          </p:cNvPicPr>
          <p:nvPr/>
        </p:nvPicPr>
        <p:blipFill>
          <a:blip r:embed="rId2"/>
          <a:srcRect t="4637" b="4637"/>
          <a:stretch>
            <a:fillRect/>
          </a:stretch>
        </p:blipFill>
        <p:spPr>
          <a:xfrm>
            <a:off x="685800" y="1143000"/>
            <a:ext cx="3401568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2761488"/>
            <a:ext cx="3401568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61488"/>
            <a:ext cx="73152" cy="438912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081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体系化：场景与推荐入口统一</a:t>
            </a:r>
          </a:p>
        </p:txBody>
      </p:sp>
      <p:pic>
        <p:nvPicPr>
          <p:cNvPr id="12" name="Picture 11" descr="lidar_card.png"/>
          <p:cNvPicPr>
            <a:picLocks noChangeAspect="1"/>
          </p:cNvPicPr>
          <p:nvPr/>
        </p:nvPicPr>
        <p:blipFill>
          <a:blip r:embed="rId3"/>
          <a:srcRect t="4637" b="4637"/>
          <a:stretch>
            <a:fillRect/>
          </a:stretch>
        </p:blipFill>
        <p:spPr>
          <a:xfrm>
            <a:off x="4407408" y="1143000"/>
            <a:ext cx="3401568" cy="2057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07408" y="2761488"/>
            <a:ext cx="3401568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761488"/>
            <a:ext cx="73152" cy="438912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880360"/>
            <a:ext cx="3081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可解释：感知和避障过程可见</a:t>
            </a:r>
          </a:p>
        </p:txBody>
      </p:sp>
      <p:pic>
        <p:nvPicPr>
          <p:cNvPr id="16" name="Picture 15" descr="path_card.png"/>
          <p:cNvPicPr>
            <a:picLocks noChangeAspect="1"/>
          </p:cNvPicPr>
          <p:nvPr/>
        </p:nvPicPr>
        <p:blipFill>
          <a:blip r:embed="rId4"/>
          <a:srcRect t="4637" b="4637"/>
          <a:stretch>
            <a:fillRect/>
          </a:stretch>
        </p:blipFill>
        <p:spPr>
          <a:xfrm>
            <a:off x="8129016" y="1143000"/>
            <a:ext cx="3401568" cy="2057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129016" y="2761488"/>
            <a:ext cx="3401568" cy="438912"/>
          </a:xfrm>
          <a:prstGeom prst="rect">
            <a:avLst/>
          </a:prstGeom>
          <a:solidFill>
            <a:srgbClr val="102534"/>
          </a:solidFill>
          <a:ln w="12700">
            <a:solidFill>
              <a:srgbClr val="10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2761488"/>
            <a:ext cx="73152" cy="438912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880360"/>
            <a:ext cx="3081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可回归：路径与轨迹可量化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01568"/>
            <a:ext cx="340156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01568"/>
            <a:ext cx="73152" cy="19385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6616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F78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3584448"/>
            <a:ext cx="24323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贡献 1：体系化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41648"/>
            <a:ext cx="296265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launch、配置、模型、算法、脚本和测试各有边界，推荐入口统一。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3401568"/>
            <a:ext cx="340156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3401568"/>
            <a:ext cx="73152" cy="1938528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56616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78A5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3584448"/>
            <a:ext cx="24323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贡献 2：可解释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041648"/>
            <a:ext cx="296265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路径、误差、目标、浮标与控制状态进入 RViz/status，便于复盘。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3401568"/>
            <a:ext cx="340156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9016" y="3401568"/>
            <a:ext cx="73152" cy="1938528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356616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8B62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584448"/>
            <a:ext cx="24323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贡献 3：可回归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041648"/>
            <a:ext cx="296265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完成率、碰撞、净空、耗时与 COLREGs 激活都成为自动门槛。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705856"/>
            <a:ext cx="10744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0707D"/>
                </a:solidFill>
                <a:latin typeface="Noto Sans CJK SC"/>
              </a:defRPr>
            </a:pPr>
            <a:r>
              <a:t>当前边界：动态船来自仿真专用检测 Topic；激光不能识别红/绿语义；COLREGs 是教学监督层，不是认证避碰系统。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50" b="1">
                <a:solidFill>
                  <a:srgbClr val="17324D"/>
                </a:solidFill>
                <a:latin typeface="Noto Sans CJK SC"/>
              </a:defRPr>
            </a:pPr>
            <a:r>
              <a:t>八、汇报时的推荐流程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384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60707D"/>
                </a:solidFill>
                <a:latin typeface="Noto Sans CJK SC"/>
              </a:defRPr>
            </a:pPr>
            <a:r>
              <a:t>讲述路径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859536"/>
            <a:ext cx="11045952" cy="0"/>
          </a:xfrm>
          <a:prstGeom prst="line">
            <a:avLst/>
          </a:prstGeom>
          <a:ln w="12700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0707D"/>
                </a:solidFill>
                <a:latin typeface="Noto Sans CJK SC"/>
              </a:defRPr>
            </a:pPr>
            <a:r>
              <a:t>VRX WAM-V 自主航行系统 | codex_fix 本条对话修改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707D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70432"/>
            <a:ext cx="1097280" cy="65836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8988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1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70432"/>
            <a:ext cx="9189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5960" y="1170432"/>
            <a:ext cx="73152" cy="658368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5415" y="1353312"/>
            <a:ext cx="8750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先抛问题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5415" y="1810512"/>
            <a:ext cx="8750808" cy="-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旧系统能跑，但难以解释、难以复现、难以验收。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020824"/>
            <a:ext cx="1097280" cy="65836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2402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2 分钟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020824"/>
            <a:ext cx="9189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65960" y="2020824"/>
            <a:ext cx="73152" cy="658368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5415" y="2203704"/>
            <a:ext cx="8750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讲改造结构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5" y="2660904"/>
            <a:ext cx="8750808" cy="-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定位、地图、规划、控制、规则、可视化、评测七层闭环。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2871216"/>
            <a:ext cx="1097280" cy="65836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0906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2 分钟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2871216"/>
            <a:ext cx="9189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65960" y="2871216"/>
            <a:ext cx="73152" cy="658368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5" y="3054096"/>
            <a:ext cx="8750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展示启动链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85415" y="3511296"/>
            <a:ext cx="8750808" cy="-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强调 colregs_learning.launch.py 是推荐入口，避免重复仿真。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721608"/>
            <a:ext cx="1097280" cy="65836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9410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3 分钟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3721608"/>
            <a:ext cx="9189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65960" y="3721608"/>
            <a:ext cx="73152" cy="658368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85415" y="3904488"/>
            <a:ext cx="8750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讲算法流程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5415" y="4361688"/>
            <a:ext cx="8750808" cy="-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静态障碍走地图和 State Lattice，动态目标走 CPA/TCPA/COLREGs 分支。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4572000"/>
            <a:ext cx="1097280" cy="658368"/>
          </a:xfrm>
          <a:prstGeom prst="rect">
            <a:avLst/>
          </a:prstGeom>
          <a:solidFill>
            <a:srgbClr val="247F78"/>
          </a:solidFill>
          <a:ln w="12700">
            <a:solidFill>
              <a:srgbClr val="24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79145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Noto Sans CJK SC"/>
              </a:defRPr>
            </a:pPr>
            <a:r>
              <a:t>2 分钟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4572000"/>
            <a:ext cx="9189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65960" y="4572000"/>
            <a:ext cx="73152" cy="658368"/>
          </a:xfrm>
          <a:prstGeom prst="rect">
            <a:avLst/>
          </a:prstGeom>
          <a:solidFill>
            <a:srgbClr val="2C78A5"/>
          </a:solidFill>
          <a:ln w="12700">
            <a:solidFill>
              <a:srgbClr val="2C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5415" y="4754880"/>
            <a:ext cx="8750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7324D"/>
                </a:solidFill>
                <a:latin typeface="Noto Sans CJK SC"/>
              </a:defRPr>
            </a:pPr>
            <a:r>
              <a:t>展示指标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85415" y="5212080"/>
            <a:ext cx="8750808" cy="-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90" b="0">
                <a:solidFill>
                  <a:srgbClr val="25313B"/>
                </a:solidFill>
                <a:latin typeface="Noto Sans CJK SC"/>
              </a:defRPr>
            </a:pPr>
            <a:r>
              <a:t>用 aggregate.json 的 PASS 指标收束论证。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815584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324D"/>
                </a:solidFill>
                <a:latin typeface="Noto Sans CJK SC"/>
              </a:defRPr>
            </a:pPr>
            <a:r>
              <a:t>收束句：这不是单个避障算法的展示，而是一套面向 VRX 学习和后续研究的可验证实验平台。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codex_fix 本条对话修改论述流程汇报</dc:title>
  <dc:subject>VRX WAM-V codex_fix 改造流程与验收</dc:subject>
  <dc:creator>HanW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