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x-clipboard-9ae44990-2361-403d-ac03-100f631a86d9.png"/>
          <p:cNvPicPr>
            <a:picLocks noChangeAspect="1"/>
          </p:cNvPicPr>
          <p:nvPr/>
        </p:nvPicPr>
        <p:blipFill>
          <a:blip r:embed="rId2"/>
          <a:srcRect t="2422" b="242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x-clipboard-9126e553-c0e7-45d4-b0f2-d60dfcb9f0e8.png"/>
          <p:cNvPicPr>
            <a:picLocks noChangeAspect="1"/>
          </p:cNvPicPr>
          <p:nvPr/>
        </p:nvPicPr>
        <p:blipFill>
          <a:blip r:embed="rId2"/>
          <a:srcRect l="950" r="95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x-clipboard-12384b0f-eab1-41fb-a48d-982fb4b6547b.png"/>
          <p:cNvPicPr>
            <a:picLocks noChangeAspect="1"/>
          </p:cNvPicPr>
          <p:nvPr/>
        </p:nvPicPr>
        <p:blipFill>
          <a:blip r:embed="rId2"/>
          <a:srcRect l="678" r="67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x-clipboard-c52b0693-eaa0-4681-b0b6-e2376453b2db.png"/>
          <p:cNvPicPr>
            <a:picLocks noChangeAspect="1"/>
          </p:cNvPicPr>
          <p:nvPr/>
        </p:nvPicPr>
        <p:blipFill>
          <a:blip r:embed="rId2"/>
          <a:srcRect t="103" b="10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x-clipboard-b826884d-6bcf-446f-963a-1bced1cf8a6b.png"/>
          <p:cNvPicPr>
            <a:picLocks noChangeAspect="1"/>
          </p:cNvPicPr>
          <p:nvPr/>
        </p:nvPicPr>
        <p:blipFill>
          <a:blip r:embed="rId2"/>
          <a:srcRect l="9120" r="912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选型结论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686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Noto Sans CJK SC"/>
              </a:defRPr>
            </a:pPr>
            <a:r>
              <a:t>为什么本项目采用 EKF + Dubins + ILOS + State Lattice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463040"/>
            <a:ext cx="786384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463040"/>
            <a:ext cx="1325880" cy="438912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41063" y="1563624"/>
            <a:ext cx="12161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463040"/>
            <a:ext cx="2057400" cy="438912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1563624"/>
            <a:ext cx="1947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承担问题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463040"/>
            <a:ext cx="2331720" cy="438912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24344" y="1563624"/>
            <a:ext cx="222199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选择原因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463040"/>
            <a:ext cx="2148840" cy="438912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56064" y="1563624"/>
            <a:ext cx="20391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当前边界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1901952"/>
            <a:ext cx="1325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9352" y="2011680"/>
            <a:ext cx="117957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EKF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901952"/>
            <a:ext cx="2057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011680"/>
            <a:ext cx="19110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把 GPS/IMU 变成稳定 ENU 状态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901952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2631" y="2011680"/>
            <a:ext cx="218541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实时、轻量、ROS2 工程成熟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901952"/>
            <a:ext cx="2148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011680"/>
            <a:ext cx="20025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依赖 GNSS，不解决长期无 GPS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2743200"/>
            <a:ext cx="1325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9352" y="2852928"/>
            <a:ext cx="117957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Dubins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2743200"/>
            <a:ext cx="2057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2852928"/>
            <a:ext cx="19110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生成满足最小转弯半径的几何路径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2743200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2852928"/>
            <a:ext cx="218541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解释清晰，可作为基准路径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743200"/>
            <a:ext cx="2148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4352" y="2852928"/>
            <a:ext cx="20025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只前进，缺少障碍约束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6200" y="3584448"/>
            <a:ext cx="1325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9352" y="3694176"/>
            <a:ext cx="117957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ILOS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3584448"/>
            <a:ext cx="2057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3694176"/>
            <a:ext cx="19110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沿路径抗横流跟踪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3584448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42631" y="3694176"/>
            <a:ext cx="218541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结构简单，适合欠驱动船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3584448"/>
            <a:ext cx="2148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74352" y="3694176"/>
            <a:ext cx="20025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参数需随速度/扰动调节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4425696"/>
            <a:ext cx="1325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4535424"/>
            <a:ext cx="117957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State Lattice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425696"/>
            <a:ext cx="2057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85232" y="4535424"/>
            <a:ext cx="19110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障碍和曲率约束下搜索可行路径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4425696"/>
            <a:ext cx="2331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42631" y="4535424"/>
            <a:ext cx="218541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把局部避障转为可验证路径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01200" y="4425696"/>
            <a:ext cx="2148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74352" y="4535424"/>
            <a:ext cx="200253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复杂场景耗时上升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86200" y="5321808"/>
            <a:ext cx="7863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86200" y="5321808"/>
            <a:ext cx="73152" cy="914400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5486400"/>
            <a:ext cx="75163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一句话结论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888736"/>
            <a:ext cx="75163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126"/>
                </a:solidFill>
                <a:latin typeface="Noto Sans CJK SC"/>
              </a:defRPr>
            </a:pPr>
            <a:r>
              <a:t>EKF 负责“我在哪”，Dubins 负责“粗略怎么转过去”，ILOS 负责“沿着路径怎么走”，State Lattice 负责“有障碍和运动约束时怎么找可执行路径”。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8961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Noto Sans CJK SC"/>
              </a:defRPr>
            </a:pPr>
            <a:r>
              <a:t>从传感器到推进器的闭环链路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508760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344" y="1719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0" b="1">
                <a:solidFill>
                  <a:srgbClr val="1C2126"/>
                </a:solidFill>
                <a:latin typeface="Noto Sans CJK SC"/>
              </a:defRPr>
            </a:pPr>
            <a:r>
              <a:t>GPS / IMU</a:t>
            </a:r>
            <a:br/>
            <a:r>
              <a:t>Laser / PointCloud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615184"/>
            <a:ext cx="1024128" cy="329184"/>
          </a:xfrm>
          <a:prstGeom prst="round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2697479"/>
            <a:ext cx="877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C2126"/>
                </a:solidFill>
                <a:latin typeface="Noto Sans CJK SC"/>
              </a:defRPr>
            </a:pPr>
            <a:r>
              <a:t>传感器输入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82896" y="1975104"/>
            <a:ext cx="274320" cy="0"/>
          </a:xfrm>
          <a:prstGeom prst="line">
            <a:avLst/>
          </a:prstGeom>
          <a:ln w="1524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93792" y="1508760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5" y="1719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0" b="1">
                <a:solidFill>
                  <a:srgbClr val="1C2126"/>
                </a:solidFill>
                <a:latin typeface="Noto Sans CJK SC"/>
              </a:defRPr>
            </a:pPr>
            <a:r>
              <a:t>EKF</a:t>
            </a:r>
            <a:br/>
            <a:r>
              <a:t>状态健康监测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615184"/>
            <a:ext cx="1024128" cy="329184"/>
          </a:xfrm>
          <a:prstGeom prst="round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6944" y="2697479"/>
            <a:ext cx="877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C2126"/>
                </a:solidFill>
                <a:latin typeface="Noto Sans CJK SC"/>
              </a:defRPr>
            </a:pPr>
            <a:r>
              <a:t>状态估计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36207" y="1975104"/>
            <a:ext cx="274320" cy="0"/>
          </a:xfrm>
          <a:prstGeom prst="line">
            <a:avLst/>
          </a:prstGeom>
          <a:ln w="1524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547104" y="1508760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3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1719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0" b="1">
                <a:solidFill>
                  <a:srgbClr val="1C2126"/>
                </a:solidFill>
                <a:latin typeface="Noto Sans CJK SC"/>
              </a:defRPr>
            </a:pPr>
            <a:r>
              <a:t>滚动占据栅格</a:t>
            </a:r>
            <a:br/>
            <a:r>
              <a:t>浮标候选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7104" y="2615184"/>
            <a:ext cx="1024128" cy="329184"/>
          </a:xfrm>
          <a:prstGeom prst="round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2697479"/>
            <a:ext cx="877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C2126"/>
                </a:solidFill>
                <a:latin typeface="Noto Sans CJK SC"/>
              </a:defRPr>
            </a:pPr>
            <a:r>
              <a:t>局部地图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1975104"/>
            <a:ext cx="274320" cy="0"/>
          </a:xfrm>
          <a:prstGeom prst="line">
            <a:avLst/>
          </a:prstGeom>
          <a:ln w="1524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900416" y="1508760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1719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0" b="1">
                <a:solidFill>
                  <a:srgbClr val="1C2126"/>
                </a:solidFill>
                <a:latin typeface="Noto Sans CJK SC"/>
              </a:defRPr>
            </a:pPr>
            <a:r>
              <a:t>Dubins</a:t>
            </a:r>
            <a:br/>
            <a:r>
              <a:t>State Lattice A*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0416" y="2615184"/>
            <a:ext cx="1024128" cy="329184"/>
          </a:xfrm>
          <a:prstGeom prst="round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2697479"/>
            <a:ext cx="877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C2126"/>
                </a:solidFill>
                <a:latin typeface="Noto Sans CJK SC"/>
              </a:defRPr>
            </a:pPr>
            <a:r>
              <a:t>路径规划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42832" y="1975104"/>
            <a:ext cx="274320" cy="0"/>
          </a:xfrm>
          <a:prstGeom prst="line">
            <a:avLst/>
          </a:prstGeom>
          <a:ln w="1524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253728" y="1508760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719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0" b="1">
                <a:solidFill>
                  <a:srgbClr val="1C2126"/>
                </a:solidFill>
                <a:latin typeface="Noto Sans CJK SC"/>
              </a:defRPr>
            </a:pPr>
            <a:r>
              <a:t>ILOS</a:t>
            </a:r>
            <a:br/>
            <a:r>
              <a:t>曲率限速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53728" y="2615184"/>
            <a:ext cx="1024128" cy="329184"/>
          </a:xfrm>
          <a:prstGeom prst="round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0" y="2697479"/>
            <a:ext cx="877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C2126"/>
                </a:solidFill>
                <a:latin typeface="Noto Sans CJK SC"/>
              </a:defRPr>
            </a:pPr>
            <a:r>
              <a:t>路径跟随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296144" y="1975104"/>
            <a:ext cx="274320" cy="0"/>
          </a:xfrm>
          <a:prstGeom prst="line">
            <a:avLst/>
          </a:prstGeom>
          <a:ln w="1524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607040" y="1508760"/>
            <a:ext cx="10241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61904" y="1719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0" b="1">
                <a:solidFill>
                  <a:srgbClr val="1C2126"/>
                </a:solidFill>
                <a:latin typeface="Noto Sans CJK SC"/>
              </a:defRPr>
            </a:pPr>
            <a:r>
              <a:t>PID / 安全层</a:t>
            </a:r>
            <a:br/>
            <a:r>
              <a:t>左右推进器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07040" y="2615184"/>
            <a:ext cx="1024128" cy="329184"/>
          </a:xfrm>
          <a:prstGeom prst="round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80192" y="2697479"/>
            <a:ext cx="877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1C2126"/>
                </a:solidFill>
                <a:latin typeface="Noto Sans CJK SC"/>
              </a:defRPr>
            </a:pPr>
            <a:r>
              <a:t>控制执行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86200" y="365760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657600"/>
            <a:ext cx="73152" cy="132588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822191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观测层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4224528"/>
            <a:ext cx="198424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RViz 显示规划路径、实际轨迹、横向误差、浮标候选、动态船和占据栅格。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65760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657600"/>
            <a:ext cx="73152" cy="1325880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822191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监督层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224528"/>
            <a:ext cx="198424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动态目标不写成静态墙，而是通过 CPA/TCPA 触发 COLREGs 偏置与降速。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365760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15400" y="3657600"/>
            <a:ext cx="73152" cy="1325880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3822191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验收层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224528"/>
            <a:ext cx="198424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自动统计完成率、碰撞、净空、误差、规划耗时和 fallback 次数。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5623560"/>
            <a:ext cx="74980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00000"/>
                </a:solidFill>
                <a:latin typeface="Noto Sans CJK SC"/>
              </a:defRPr>
            </a:pPr>
            <a:r>
              <a:t>架构重点：规划、跟随和安全层分离，任何一层异常都能在状态话题或 RViz 中定位。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状态估计落地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EKF 不只是公式，而是控制链的统一坐标和速度来源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508760"/>
            <a:ext cx="2331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508760"/>
            <a:ext cx="73152" cy="1874519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1673351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状态量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075688"/>
            <a:ext cx="1984248" cy="11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东向 E、北向 N、东速、北速、航向 yaw、艏摇角速度 r，共 6 维状态。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08760"/>
            <a:ext cx="2331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73152" cy="1874519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73351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观测融合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75688"/>
            <a:ext cx="1984248" cy="11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GPS 提供位置和采样速度，IMU 提供航向与角速度，角度差做环绕处理。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508760"/>
            <a:ext cx="23317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508760"/>
            <a:ext cx="73152" cy="1874519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673351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健康判定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075688"/>
            <a:ext cx="1984248" cy="11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创新门限、协方差、传感器超时共同决定是否使用 robot_localization 或 PlanarEKF 回退。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822191"/>
            <a:ext cx="800100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3822191"/>
            <a:ext cx="182880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3922776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问题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3822191"/>
            <a:ext cx="210312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8424" y="3922776"/>
            <a:ext cx="199339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处理方式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3822191"/>
            <a:ext cx="210312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1544" y="3922776"/>
            <a:ext cx="199339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输出证据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3822191"/>
            <a:ext cx="196596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4664" y="3922776"/>
            <a:ext cx="18562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对控制影响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4206240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67912" y="4315968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GPS 跳点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4206240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6712" y="4315968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6 sigma 创新门限拒绝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4206240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9831" y="4315968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rejected 数量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29800" y="4206240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02952" y="4315968"/>
            <a:ext cx="1819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避免目标方向突变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4828031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67912" y="4937759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IMU 角度跨 ±π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3560" y="4828031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96712" y="4937759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wrap 角度残差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79" y="4828031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9831" y="4937759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yaw 标准差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4828031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02952" y="4937759"/>
            <a:ext cx="1819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避免艏向翻转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5449823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67912" y="5559551"/>
            <a:ext cx="16824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传感器中断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5449823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6712" y="5559551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超时停车/冻结积分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26679" y="5449823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99831" y="5559551"/>
            <a:ext cx="1956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status 字段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800" y="5449823"/>
            <a:ext cx="1965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2952" y="5559551"/>
            <a:ext cx="1819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先保安全再恢复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局部地图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雷达点云如何变成 State Lattice 可用的障碍约束</a:t>
            </a:r>
          </a:p>
        </p:txBody>
      </p:sp>
      <p:pic>
        <p:nvPicPr>
          <p:cNvPr id="9" name="Picture 8" descr="lidar_card.png"/>
          <p:cNvPicPr>
            <a:picLocks noChangeAspect="1"/>
          </p:cNvPicPr>
          <p:nvPr/>
        </p:nvPicPr>
        <p:blipFill>
          <a:blip r:embed="rId3"/>
          <a:srcRect l="3629" r="3629"/>
          <a:stretch>
            <a:fillRect/>
          </a:stretch>
        </p:blipFill>
        <p:spPr>
          <a:xfrm>
            <a:off x="3794760" y="1353312"/>
            <a:ext cx="3154680" cy="22677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269480" y="1353312"/>
            <a:ext cx="3703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353312"/>
            <a:ext cx="73152" cy="8412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517904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滚动窗口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920240"/>
            <a:ext cx="3355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1C2126"/>
                </a:solidFill>
                <a:latin typeface="Noto Sans CJK SC"/>
              </a:defRPr>
            </a:pPr>
            <a:r>
              <a:t>100 m x 100 m，0.5 m 分辨率，随 WAM-V 整格平移。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2395728"/>
            <a:ext cx="3703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2395728"/>
            <a:ext cx="73152" cy="841248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560320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证据更新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962656"/>
            <a:ext cx="3355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1C2126"/>
                </a:solidFill>
                <a:latin typeface="Noto Sans CJK SC"/>
              </a:defRPr>
            </a:pPr>
            <a:r>
              <a:t>命中提高 log-odds，自由射线降低 log-odds，旧证据随时间衰减。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3438144"/>
            <a:ext cx="37033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3438144"/>
            <a:ext cx="73152" cy="841248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602736"/>
            <a:ext cx="3355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低浮标确认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005072"/>
            <a:ext cx="3355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1C2126"/>
                </a:solidFill>
                <a:latin typeface="Noto Sans CJK SC"/>
              </a:defRPr>
            </a:pPr>
            <a:r>
              <a:t>点云滤水、空间聚类、多帧确认后进入浮标候选显示。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4681728"/>
            <a:ext cx="7178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4760" y="4681728"/>
            <a:ext cx="73152" cy="932688"/>
          </a:xfrm>
          <a:prstGeom prst="rect">
            <a:avLst/>
          </a:prstGeom>
          <a:solidFill>
            <a:srgbClr val="137A4B"/>
          </a:solidFill>
          <a:ln w="12700">
            <a:solidFill>
              <a:srgbClr val="13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4846320"/>
            <a:ext cx="6830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为什么不用完整 SLAM 做主线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5248656"/>
            <a:ext cx="6830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1C2126"/>
                </a:solidFill>
                <a:latin typeface="Noto Sans CJK SC"/>
              </a:defRPr>
            </a:pPr>
            <a:r>
              <a:t>VRX Wayfinding 目标由 WGS84 航点发布，开阔水面长期稳定特征少；本项目更需要实时局部障碍记忆，而不是保存全局地图。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规划衔接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Dubins 与 State Lattice 的关系：先快解，再搜索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508760"/>
            <a:ext cx="1600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508760"/>
            <a:ext cx="73152" cy="190195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673351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Noto Sans CJK SC"/>
              </a:defRPr>
            </a:pPr>
            <a:r>
              <a:t>目标点 + 期望艏向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075688"/>
            <a:ext cx="125272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1C2126"/>
                </a:solidFill>
                <a:latin typeface="Noto Sans CJK SC"/>
              </a:defRPr>
            </a:pPr>
            <a:r>
              <a:t>官方 Wayfinding 航点或局部 40 m 子目标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450592"/>
            <a:ext cx="237744" cy="0"/>
          </a:xfrm>
          <a:prstGeom prst="line">
            <a:avLst/>
          </a:prstGeom>
          <a:ln w="1397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806440" y="1508760"/>
            <a:ext cx="1600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1508760"/>
            <a:ext cx="73152" cy="1901952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673351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Noto Sans CJK SC"/>
              </a:defRPr>
            </a:pPr>
            <a:r>
              <a:t>解析 Dubins 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075688"/>
            <a:ext cx="125272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1C2126"/>
                </a:solidFill>
                <a:latin typeface="Noto Sans CJK SC"/>
              </a:defRPr>
            </a:pPr>
            <a:r>
              <a:t>无遮挡时快速生成最短曲率受限路径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34071" y="2450592"/>
            <a:ext cx="237745" cy="0"/>
          </a:xfrm>
          <a:prstGeom prst="line">
            <a:avLst/>
          </a:prstGeom>
          <a:ln w="1397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26679" y="1508760"/>
            <a:ext cx="1600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1508760"/>
            <a:ext cx="73152" cy="1901952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59" y="1673351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Noto Sans CJK SC"/>
              </a:defRPr>
            </a:pPr>
            <a:r>
              <a:t>碰撞检查失败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2075688"/>
            <a:ext cx="125272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1C2126"/>
                </a:solidFill>
                <a:latin typeface="Noto Sans CJK SC"/>
              </a:defRPr>
            </a:pPr>
            <a:r>
              <a:t>路径穿过占用栅格或膨胀安全圈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54311" y="2450592"/>
            <a:ext cx="237744" cy="0"/>
          </a:xfrm>
          <a:prstGeom prst="line">
            <a:avLst/>
          </a:prstGeom>
          <a:ln w="1397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46920" y="1508760"/>
            <a:ext cx="16002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1508760"/>
            <a:ext cx="73152" cy="1901952"/>
          </a:xfrm>
          <a:prstGeom prst="rect">
            <a:avLst/>
          </a:prstGeom>
          <a:solidFill>
            <a:srgbClr val="B23F36"/>
          </a:solidFill>
          <a:ln w="12700">
            <a:solidFill>
              <a:srgbClr val="B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1673351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Noto Sans CJK SC"/>
              </a:defRPr>
            </a:pPr>
            <a:r>
              <a:t>State Lattice A*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075688"/>
            <a:ext cx="125272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0">
                <a:solidFill>
                  <a:srgbClr val="1C2126"/>
                </a:solidFill>
                <a:latin typeface="Noto Sans CJK SC"/>
              </a:defRPr>
            </a:pPr>
            <a:r>
              <a:t>离散位置/航向上搜索可执行路径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3977639"/>
            <a:ext cx="7863840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86200" y="3977639"/>
            <a:ext cx="160020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41063" y="4078224"/>
            <a:ext cx="1490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机制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977639"/>
            <a:ext cx="214884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4078224"/>
            <a:ext cx="20391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触发条件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3977639"/>
            <a:ext cx="205740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0104" y="4078224"/>
            <a:ext cx="1947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3977639"/>
            <a:ext cx="205740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47504" y="4078224"/>
            <a:ext cx="1947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价值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4361688"/>
            <a:ext cx="1600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9352" y="4471416"/>
            <a:ext cx="14538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子目标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4361688"/>
            <a:ext cx="2148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9552" y="4471416"/>
            <a:ext cx="20025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目标超出滚动地图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436168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4471416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40 m 局部目标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436168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5792" y="4471416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保持规划在已知区域内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5020055"/>
            <a:ext cx="1600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59352" y="5129783"/>
            <a:ext cx="14538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重规划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5020055"/>
            <a:ext cx="2148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59552" y="5129783"/>
            <a:ext cx="20025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障碍持续阻断路径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35240" y="5020055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08392" y="5129783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新 path revision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5020055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65792" y="5129783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绕开新增障碍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86200" y="5678423"/>
            <a:ext cx="1600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59352" y="5788151"/>
            <a:ext cx="14538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fallback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5678423"/>
            <a:ext cx="2148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9552" y="5788151"/>
            <a:ext cx="20025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搜索失败或起点异常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35240" y="5678423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08392" y="5788151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保留旧安全路径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92640" y="5678423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65792" y="5788151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避免未检查路径覆盖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路径跟随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ILOS 把“路径曲线”变成“期望航向 + 速度约束”</a:t>
            </a:r>
          </a:p>
        </p:txBody>
      </p:sp>
      <p:pic>
        <p:nvPicPr>
          <p:cNvPr id="9" name="Picture 8" descr="path_card.png"/>
          <p:cNvPicPr>
            <a:picLocks noChangeAspect="1"/>
          </p:cNvPicPr>
          <p:nvPr/>
        </p:nvPicPr>
        <p:blipFill>
          <a:blip r:embed="rId3"/>
          <a:srcRect l="3595" r="3595"/>
          <a:stretch>
            <a:fillRect/>
          </a:stretch>
        </p:blipFill>
        <p:spPr>
          <a:xfrm>
            <a:off x="3794760" y="1325880"/>
            <a:ext cx="3246120" cy="2331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0" y="1325880"/>
            <a:ext cx="374903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1325880"/>
            <a:ext cx="73152" cy="86868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9047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横向误差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892807"/>
            <a:ext cx="3401568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1C2126"/>
                </a:solidFill>
                <a:latin typeface="Noto Sans CJK SC"/>
              </a:defRPr>
            </a:pPr>
            <a:r>
              <a:t>以路径切向为参考，船在路径左侧时 e_y &gt; 0，期望航向向右修正。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377440"/>
            <a:ext cx="374903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2377440"/>
            <a:ext cx="73152" cy="868680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54203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积分补偿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944368"/>
            <a:ext cx="3401568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1C2126"/>
                </a:solidFill>
                <a:latin typeface="Noto Sans CJK SC"/>
              </a:defRPr>
            </a:pPr>
            <a:r>
              <a:t>b_I 用于抵消稳定横流；避障、制动、低速和误差过大时冻结。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429000"/>
            <a:ext cx="374903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3429000"/>
            <a:ext cx="73152" cy="868680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3593592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曲率前馈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995928"/>
            <a:ext cx="3401568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40" b="0">
                <a:solidFill>
                  <a:srgbClr val="1C2126"/>
                </a:solidFill>
                <a:latin typeface="Noto Sans CJK SC"/>
              </a:defRPr>
            </a:pPr>
            <a:r>
              <a:t>路径曲率生成 r_ff，并按横向加速度限制提前降速。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5074920"/>
            <a:ext cx="7223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00000"/>
                </a:solidFill>
                <a:latin typeface="Noto Sans CJK SC"/>
              </a:defRPr>
            </a:pPr>
            <a:r>
              <a:t>控制含义：ILOS 不直接躲障，它负责在规划路径已经安全的前提下稳定贴线。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动态避障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动态船通过预测和规则监督进入控制，不污染静态地图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481328"/>
            <a:ext cx="12984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481328"/>
            <a:ext cx="73152" cy="144475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645920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目标船检测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048256"/>
            <a:ext cx="9509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1C2126"/>
                </a:solidFill>
                <a:latin typeface="Noto Sans CJK SC"/>
              </a:defRPr>
            </a:pPr>
            <a:r>
              <a:t>仿真专用 odom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94375" y="2212848"/>
            <a:ext cx="256032" cy="0"/>
          </a:xfrm>
          <a:prstGeom prst="line">
            <a:avLst/>
          </a:prstGeom>
          <a:ln w="1397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577840" y="1481328"/>
            <a:ext cx="12984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1481328"/>
            <a:ext cx="73152" cy="1444752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645920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速度估计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048256"/>
            <a:ext cx="9509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1C2126"/>
                </a:solidFill>
                <a:latin typeface="Noto Sans CJK SC"/>
              </a:defRPr>
            </a:pPr>
            <a:r>
              <a:t>alpha-beta 跟踪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94575" y="2212848"/>
            <a:ext cx="256032" cy="0"/>
          </a:xfrm>
          <a:prstGeom prst="line">
            <a:avLst/>
          </a:prstGeom>
          <a:ln w="1397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78040" y="1481328"/>
            <a:ext cx="12984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1481328"/>
            <a:ext cx="73152" cy="1444752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1645920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风险评估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2048256"/>
            <a:ext cx="9509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1C2126"/>
                </a:solidFill>
                <a:latin typeface="Noto Sans CJK SC"/>
              </a:defRPr>
            </a:pPr>
            <a:r>
              <a:t>CPA / TCPA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94776" y="2212848"/>
            <a:ext cx="256032" cy="0"/>
          </a:xfrm>
          <a:prstGeom prst="line">
            <a:avLst/>
          </a:prstGeom>
          <a:ln w="1397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778240" y="1481328"/>
            <a:ext cx="12984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1481328"/>
            <a:ext cx="73152" cy="1444752"/>
          </a:xfrm>
          <a:prstGeom prst="rect">
            <a:avLst/>
          </a:prstGeom>
          <a:solidFill>
            <a:srgbClr val="137A4B"/>
          </a:solidFill>
          <a:ln w="12700">
            <a:solidFill>
              <a:srgbClr val="13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1645920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会遇分类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2048256"/>
            <a:ext cx="9509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1C2126"/>
                </a:solidFill>
                <a:latin typeface="Noto Sans CJK SC"/>
              </a:defRPr>
            </a:pPr>
            <a:r>
              <a:t>横越 / 对遇 / 追越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94976" y="2212848"/>
            <a:ext cx="256032" cy="0"/>
          </a:xfrm>
          <a:prstGeom prst="line">
            <a:avLst/>
          </a:prstGeom>
          <a:ln w="13970">
            <a:solidFill>
              <a:srgbClr val="5C6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378440" y="1481328"/>
            <a:ext cx="12984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78440" y="1481328"/>
            <a:ext cx="73152" cy="1444752"/>
          </a:xfrm>
          <a:prstGeom prst="rect">
            <a:avLst/>
          </a:prstGeom>
          <a:solidFill>
            <a:srgbClr val="B23F36"/>
          </a:solidFill>
          <a:ln w="12700">
            <a:solidFill>
              <a:srgbClr val="B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19" y="1645920"/>
            <a:ext cx="950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监督动作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19" y="2048256"/>
            <a:ext cx="9509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9" b="0">
                <a:solidFill>
                  <a:srgbClr val="1C2126"/>
                </a:solidFill>
                <a:latin typeface="Noto Sans CJK SC"/>
              </a:defRPr>
            </a:pPr>
            <a:r>
              <a:t>右转偏置 + 降速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3611880"/>
            <a:ext cx="7955279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611880"/>
            <a:ext cx="169164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1063" y="3712464"/>
            <a:ext cx="15819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场景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3611880"/>
            <a:ext cx="210312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32703" y="3712464"/>
            <a:ext cx="199339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判断依据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59" y="3611880"/>
            <a:ext cx="210312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35823" y="3712464"/>
            <a:ext cx="199339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控制策略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3611880"/>
            <a:ext cx="205740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38944" y="3712464"/>
            <a:ext cx="19476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可视化证据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86200" y="3995928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9352" y="4105656"/>
            <a:ext cx="15453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横越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3995928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4105656"/>
            <a:ext cx="19568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TCPA 在窗口内，DCPA 过小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59" y="3995928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54111" y="4105656"/>
            <a:ext cx="19568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向右偏置并降低速度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84080" y="3995928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57232" y="4105656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风险目标变红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86200" y="4654296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59352" y="4764024"/>
            <a:ext cx="15453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对遇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4654296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0992" y="4764024"/>
            <a:ext cx="19568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相对方位接近船艏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59" y="4654296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54111" y="4764024"/>
            <a:ext cx="19568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更强右转偏置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4654296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7232" y="4764024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encounter=head_on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86200" y="5312664"/>
            <a:ext cx="1691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59352" y="5422392"/>
            <a:ext cx="154533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追越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5312664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50992" y="5422392"/>
            <a:ext cx="19568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后向相对接近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59" y="5312664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54111" y="5422392"/>
            <a:ext cx="195681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保守限速/保持距离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5312664"/>
            <a:ext cx="2057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57232" y="5422392"/>
            <a:ext cx="1911095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TCPA/DCPA 标签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控制输出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最后一层：把期望速度和艏摇角速度变成左右推进器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41732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417320"/>
            <a:ext cx="73152" cy="141732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58191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速度闭环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984248"/>
            <a:ext cx="1984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速度 PID 负责巡航、接近目标和弯道限速后的纵向推力。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73152" cy="1417320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8191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艏摇闭环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84248"/>
            <a:ext cx="1984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航向误差 + 曲率前馈生成 r_cmd，并受角速度参考治理器限制。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41732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417320"/>
            <a:ext cx="73152" cy="1417320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59" y="158191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推进器分配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984248"/>
            <a:ext cx="1984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前进推力与差动转向叠加，输出左右推进器指令。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401568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3401568"/>
            <a:ext cx="73152" cy="1417320"/>
          </a:xfrm>
          <a:prstGeom prst="rect">
            <a:avLst/>
          </a:prstGeom>
          <a:solidFill>
            <a:srgbClr val="B23F36"/>
          </a:solidFill>
          <a:ln w="12700">
            <a:solidFill>
              <a:srgbClr val="B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356616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近障碍安全层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968496"/>
            <a:ext cx="1984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雷达发现过近障碍时覆盖正常指令，执行制动或安全倒车恢复。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401568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401568"/>
            <a:ext cx="73152" cy="1417320"/>
          </a:xfrm>
          <a:prstGeom prst="rect">
            <a:avLst/>
          </a:prstGeom>
          <a:solidFill>
            <a:srgbClr val="137A4B"/>
          </a:solidFill>
          <a:ln w="12700">
            <a:solidFill>
              <a:srgbClr val="13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56616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传感器超时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968496"/>
            <a:ext cx="1984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GPS/IMU/雷达失联时停车，等待有效样本后再恢复动作。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3401568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3401568"/>
            <a:ext cx="73152" cy="1417320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59" y="356616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冲突保护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3968496"/>
            <a:ext cx="1984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重复 controller 或重复 Gazebo 会被检查，避免多个发布者抢推进器。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53212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000000"/>
                </a:solidFill>
                <a:latin typeface="Noto Sans CJK SC"/>
              </a:defRPr>
            </a:pPr>
            <a:r>
              <a:t>控制层目标：宁可保守降速，也不要让规划失败、传感器中断或重复进程直接变成碰撞风险。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实验入口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从基础闭环到动态避障的推荐演示顺序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371600"/>
            <a:ext cx="7863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371600"/>
            <a:ext cx="2011680" cy="411480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9624" y="1472184"/>
            <a:ext cx="19019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371600"/>
            <a:ext cx="3246120" cy="411480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61304" y="1472184"/>
            <a:ext cx="313639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命令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371600"/>
            <a:ext cx="2606040" cy="411480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424" y="1472184"/>
            <a:ext cx="24963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主要观察点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1783080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1892807"/>
            <a:ext cx="1865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基础 Wayfinding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783080"/>
            <a:ext cx="3246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892807"/>
            <a:ext cx="3099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simulation.launch.py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78308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892807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EKF / Dubins / ILOS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2404872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67912" y="2514600"/>
            <a:ext cx="1865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多航点压力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2404872"/>
            <a:ext cx="3246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9592" y="2514600"/>
            <a:ext cx="3099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multi_waypoint_course.launch.py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404872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2514600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连续重规划和最终艏向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3026664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7912" y="3136392"/>
            <a:ext cx="1865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固定浮标场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3026664"/>
            <a:ext cx="3246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9592" y="3136392"/>
            <a:ext cx="3099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buoy_course.launch.py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02666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3136392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点云、栅格、浮标候选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3648456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7912" y="3758184"/>
            <a:ext cx="1865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State Lattice 压力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3648456"/>
            <a:ext cx="3246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9592" y="3758184"/>
            <a:ext cx="3099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lattice_stress.launch.py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3648456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3758184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A* 展开、fallback=0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4270248"/>
            <a:ext cx="2011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67912" y="4379976"/>
            <a:ext cx="18653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COLREGs 学习场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4270248"/>
            <a:ext cx="3246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79592" y="4379976"/>
            <a:ext cx="30998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colregs_learning.launch.py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4270248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25712" y="4379976"/>
            <a:ext cx="24597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动态目标和右转降速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94760" y="5074920"/>
            <a:ext cx="78638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60" y="5074920"/>
            <a:ext cx="73152" cy="102412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77640" y="5239512"/>
            <a:ext cx="75163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推荐主入口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7640" y="5641848"/>
            <a:ext cx="751636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C2126"/>
                </a:solidFill>
                <a:latin typeface="Noto Sans CJK SC"/>
              </a:defRPr>
            </a:pPr>
            <a:r>
              <a:t>ros2 launch codex_usv_controller colregs_learning.launch.py：一次启动 Gazebo、RViz、WAM-V、EKF、控制器、12 枚浮标和 2 艘动态目标船。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PPT 最后要用指标收束：不是只会演示，而是可验收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481328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166420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B050"/>
                </a:solidFill>
                <a:latin typeface="Noto Sans CJK SC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08483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5C696E"/>
                </a:solidFill>
                <a:latin typeface="Noto Sans CJK SC"/>
              </a:defRPr>
            </a:pPr>
            <a:r>
              <a:t>官方任务完成率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81328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66420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B050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08483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5C696E"/>
                </a:solidFill>
                <a:latin typeface="Noto Sans CJK SC"/>
              </a:defRPr>
            </a:pPr>
            <a:r>
              <a:t>碰撞次数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481328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19" y="166420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D6D9F"/>
                </a:solidFill>
                <a:latin typeface="Noto Sans CJK SC"/>
              </a:defRPr>
            </a:pPr>
            <a:r>
              <a:t>1.076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2084832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5C696E"/>
                </a:solidFill>
                <a:latin typeface="Noto Sans CJK SC"/>
              </a:defRPr>
            </a:pPr>
            <a:r>
              <a:t>官方平均误差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2880360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0632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B45014"/>
                </a:solidFill>
                <a:latin typeface="Noto Sans CJK SC"/>
              </a:defRPr>
            </a:pPr>
            <a:r>
              <a:t>5.952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483864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5C696E"/>
                </a:solidFill>
                <a:latin typeface="Noto Sans CJK SC"/>
              </a:defRPr>
            </a:pPr>
            <a:r>
              <a:t>最小净空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80360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0632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0B050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3483864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5C696E"/>
                </a:solidFill>
                <a:latin typeface="Noto Sans CJK SC"/>
              </a:defRPr>
            </a:pPr>
            <a:r>
              <a:t>State Lattice fallback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2880360"/>
            <a:ext cx="20574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19" y="30632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B23F36"/>
                </a:solidFill>
                <a:latin typeface="Noto Sans CJK SC"/>
              </a:defRPr>
            </a:pPr>
            <a:r>
              <a:t>189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19" y="3483864"/>
            <a:ext cx="18745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40" b="0">
                <a:solidFill>
                  <a:srgbClr val="5C696E"/>
                </a:solidFill>
                <a:latin typeface="Noto Sans CJK SC"/>
              </a:defRPr>
            </a:pPr>
            <a:r>
              <a:t>COLREGs 激活样本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572000"/>
            <a:ext cx="7360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4572000"/>
            <a:ext cx="73152" cy="82296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4736592"/>
            <a:ext cx="7013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自动验收命令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5138928"/>
            <a:ext cx="701344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C2126"/>
                </a:solidFill>
                <a:latin typeface="Noto Sans CJK SC"/>
              </a:defRPr>
            </a:pPr>
            <a:r>
              <a:t>bash codex_fix/scripts/run_colregs_learning.sh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687568"/>
            <a:ext cx="7360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80" b="1">
                <a:solidFill>
                  <a:srgbClr val="000000"/>
                </a:solidFill>
                <a:latin typeface="Noto Sans CJK SC"/>
              </a:defRPr>
            </a:pPr>
            <a:r>
              <a:t>展示建议：先给 RViz 画面，再给 aggregate.json 指标，这样“能看见”和“能量化”都成立。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边界与后续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0000"/>
                </a:solidFill>
                <a:latin typeface="Noto Sans CJK SC"/>
              </a:defRPr>
            </a:pPr>
            <a:r>
              <a:t>把边界说清楚，反而能让方案显得更工程化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41732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417320"/>
            <a:ext cx="73152" cy="1828800"/>
          </a:xfrm>
          <a:prstGeom prst="rect">
            <a:avLst/>
          </a:prstGeom>
          <a:solidFill>
            <a:srgbClr val="B23F36"/>
          </a:solidFill>
          <a:ln w="12700">
            <a:solidFill>
              <a:srgbClr val="B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158191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当前边界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984248"/>
            <a:ext cx="198424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动态船检测来自仿真专用 Topic；激光浮标候选不能识别红/绿语义；COLREGs 是学习监督层。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73152" cy="1828800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8191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近期扩展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84248"/>
            <a:ext cx="198424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接入视觉颜色识别；把动态目标检测从理想 odom 换成雷达/视觉融合；补更多会遇场景。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417320"/>
            <a:ext cx="2331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417320"/>
            <a:ext cx="73152" cy="1828800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58191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研究扩展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984248"/>
            <a:ext cx="198424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Factor Graph/iSAM2 用于离线轨迹优化；MPC 用于统一处理动力学、速度和避障约束。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840480"/>
            <a:ext cx="768096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3840480"/>
            <a:ext cx="201168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3941064"/>
            <a:ext cx="19019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方向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3840480"/>
            <a:ext cx="292608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1304" y="3941064"/>
            <a:ext cx="28163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进入条件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3840480"/>
            <a:ext cx="2743200" cy="384048"/>
          </a:xfrm>
          <a:prstGeom prst="rect">
            <a:avLst/>
          </a:prstGeom>
          <a:solidFill>
            <a:srgbClr val="E1F1E8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87384" y="3941064"/>
            <a:ext cx="26334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1">
                <a:solidFill>
                  <a:srgbClr val="000000"/>
                </a:solidFill>
                <a:latin typeface="Noto Sans CJK SC"/>
              </a:defRPr>
            </a:pPr>
            <a:r>
              <a:t>预期收益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4224528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7912" y="4334256"/>
            <a:ext cx="1865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SLAM/图优化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4224528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9592" y="4334256"/>
            <a:ext cx="2779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港池、岸线特征稳定、GNSS 不可靠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422452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05672" y="4334256"/>
            <a:ext cx="25968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提高长期定位一致性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488289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7912" y="4992624"/>
            <a:ext cx="18653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1C2126"/>
                </a:solidFill>
                <a:latin typeface="Noto Sans CJK SC"/>
              </a:defRPr>
            </a:pPr>
            <a:r>
              <a:t>MPC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4882896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9592" y="4992624"/>
            <a:ext cx="277977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需要同时优化轨迹、速度、避碰和能耗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4882896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05672" y="4992624"/>
            <a:ext cx="25968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" b="0">
                <a:solidFill>
                  <a:srgbClr val="1C2126"/>
                </a:solidFill>
                <a:latin typeface="Noto Sans CJK SC"/>
              </a:defRPr>
            </a:pPr>
            <a:r>
              <a:t>提升复杂约束下的平滑性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it_green_waterm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64592"/>
            <a:ext cx="2880360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Noto Sans CJK SC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方案扩展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566928"/>
            <a:ext cx="7726681" cy="0"/>
          </a:xfrm>
          <a:prstGeom prst="line">
            <a:avLst/>
          </a:prstGeom>
          <a:ln w="11430">
            <a:solidFill>
              <a:srgbClr val="CBD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0996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C696E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896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Noto Sans CJK SC"/>
              </a:defRPr>
            </a:pPr>
            <a:r>
              <a:t>本项目的汇报主线可以收束为三句话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627632"/>
            <a:ext cx="6995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627632"/>
            <a:ext cx="73152" cy="86868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792224"/>
            <a:ext cx="6647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1. 方案不是堆算法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94560"/>
            <a:ext cx="6647688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EKF、Dubins、ILOS、State Lattice 分别对应定位、粗规划、路径跟随和约束规划，职责清晰。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2816352"/>
            <a:ext cx="6995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2816352"/>
            <a:ext cx="73152" cy="868680"/>
          </a:xfrm>
          <a:prstGeom prst="rect">
            <a:avLst/>
          </a:prstGeom>
          <a:solidFill>
            <a:srgbClr val="2D6D9F"/>
          </a:solidFill>
          <a:ln w="12700">
            <a:solidFill>
              <a:srgbClr val="2D6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980944"/>
            <a:ext cx="6647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2. 系统不是只会跑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383280"/>
            <a:ext cx="6647688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RViz、status 和自动评测把每次决策、每次风险、每次失败都变成可检查证据。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4005072"/>
            <a:ext cx="6995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4005072"/>
            <a:ext cx="73152" cy="868680"/>
          </a:xfrm>
          <a:prstGeom prst="rect">
            <a:avLst/>
          </a:prstGeom>
          <a:solidFill>
            <a:srgbClr val="B45014"/>
          </a:solidFill>
          <a:ln w="12700">
            <a:solidFill>
              <a:srgbClr val="B45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4169663"/>
            <a:ext cx="6647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1">
                <a:solidFill>
                  <a:srgbClr val="000000"/>
                </a:solidFill>
                <a:latin typeface="Noto Sans CJK SC"/>
              </a:defRPr>
            </a:pPr>
            <a:r>
              <a:t>3. 后续不是空泛扩展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572000"/>
            <a:ext cx="6647688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C2126"/>
                </a:solidFill>
                <a:latin typeface="Noto Sans CJK SC"/>
              </a:defRPr>
            </a:pPr>
            <a:r>
              <a:t>视觉语义、真实目标检测、图优化和 MPC 都能沿着现有接口逐步接入。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5532120"/>
            <a:ext cx="6995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80" b="1">
                <a:solidFill>
                  <a:srgbClr val="000000"/>
                </a:solidFill>
                <a:latin typeface="Noto Sans CJK SC"/>
              </a:defRPr>
            </a:pPr>
            <a:r>
              <a:t>最终表达：这是一套面向 VRX 学习、算法对比和后续研究的可复现自主航行实验平台。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VRX WAM-V 自主航行项目方案扩展版</dc:title>
  <dc:subject>EKF + Dubins + ILOS + State Lattice 方案扩展</dc:subject>
  <dc:creator>HanW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